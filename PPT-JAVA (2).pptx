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5.xml" ContentType="application/vnd.openxmlformats-officedocument.presentationml.notesSlide+xml"/>
  <Override PartName="/ppt/ink/ink5.xml" ContentType="application/inkml+xml"/>
  <Override PartName="/ppt/notesSlides/notesSlide6.xml" ContentType="application/vnd.openxmlformats-officedocument.presentationml.notesSlide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Heebo Light" pitchFamily="2" charset="-79"/>
      <p:regular r:id="rId9"/>
    </p:embeddedFont>
    <p:embeddedFont>
      <p:font typeface="Heebo Medium" pitchFamily="2" charset="-79"/>
      <p:regular r:id="rId10"/>
    </p:embeddedFont>
    <p:embeddedFont>
      <p:font typeface="Heebo SemiBold" panose="020B0604020202020204" charset="-79"/>
      <p:regular r:id="rId11"/>
    </p:embeddedFont>
    <p:embeddedFont>
      <p:font typeface="Montserrat SemiBold" panose="00000700000000000000" pitchFamily="2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05:18:35.501"/>
    </inkml:context>
    <inkml:brush xml:id="br0">
      <inkml:brushProperty name="width" value="0.5" units="cm"/>
      <inkml:brushProperty name="height" value="1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0 405 0,'34007'0'0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05:16:49.715"/>
    </inkml:context>
    <inkml:brush xml:id="br0">
      <inkml:brushProperty name="width" value="0.5" units="cm"/>
      <inkml:brushProperty name="height" value="1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31 0,'33825'0'0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05:19:00.102"/>
    </inkml:context>
    <inkml:brush xml:id="br0">
      <inkml:brushProperty name="width" value="0.5" units="cm"/>
      <inkml:brushProperty name="height" value="1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1 235 0,'36207'-235'0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9T05:19:16.704"/>
    </inkml:context>
    <inkml:brush xml:id="br0">
      <inkml:brushProperty name="width" value="0.5" units="cm"/>
      <inkml:brushProperty name="height" value="1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05:19:40.771"/>
    </inkml:context>
    <inkml:brush xml:id="br0">
      <inkml:brushProperty name="width" value="0.5" units="cm"/>
      <inkml:brushProperty name="height" value="1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1 156 0,'34704'-156'0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05:15:52.567"/>
    </inkml:context>
    <inkml:brush xml:id="br0">
      <inkml:brushProperty name="width" value="0.5" units="cm"/>
      <inkml:brushProperty name="height" value="1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0 381 0,'34059'0'0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6615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Java console application designed for tracking personal monthly expenses and analyzing budget allocations.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core capabilities of the application: budget input, six expense categories, automated calculation, and summary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problem-solution pipeline: transition from error-prone manual calculations to an automated Java console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direct contrast: manual logs and separate math versus a structured menu-driven Java architecture with automated status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course outcome mappings across three modules: fundamentals, control flow mechanisms for menus, and array operations for storing amounts.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the step-by-step menu execution flow alongside test run values verifying successful budget calculation within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9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</p:sp>
      <p:pic>
        <p:nvPicPr>
          <p:cNvPr id="6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9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10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customXml" Target="../ink/ink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663" y="398959"/>
            <a:ext cx="5713766" cy="3121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6400" kern="0" spc="-224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MONTHLY PLANNER &amp; BUDGET ANALYZER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523663" y="3859609"/>
            <a:ext cx="1885407" cy="31651"/>
          </a:xfrm>
          <a:prstGeom prst="roundRect">
            <a:avLst>
              <a:gd name="adj" fmla="val 49998"/>
            </a:avLst>
          </a:prstGeom>
          <a:solidFill>
            <a:srgbClr val="D9DEE7"/>
          </a:solidFill>
          <a:ln/>
        </p:spPr>
      </p:sp>
      <p:sp>
        <p:nvSpPr>
          <p:cNvPr id="4" name="Text 2"/>
          <p:cNvSpPr/>
          <p:nvPr/>
        </p:nvSpPr>
        <p:spPr>
          <a:xfrm>
            <a:off x="523663" y="4208959"/>
            <a:ext cx="5713766" cy="1014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Developed using java</a:t>
            </a:r>
            <a:endParaRPr lang="en-US" sz="1700" dirty="0"/>
          </a:p>
          <a:p>
            <a:pPr marL="690880" lvl="1" indent="-345440" algn="l">
              <a:lnSpc>
                <a:spcPct val="117000"/>
              </a:lnSpc>
              <a:buSzPct val="100000"/>
              <a:buChar char="◦"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Developed by:  Nivedhitha-2620030175</a:t>
            </a:r>
            <a:endParaRPr lang="en-US" sz="1700" dirty="0"/>
          </a:p>
          <a:p>
            <a:pPr marL="690880" lvl="1" indent="-345440" algn="l">
              <a:lnSpc>
                <a:spcPct val="117000"/>
              </a:lnSpc>
              <a:buSzPct val="100000"/>
              <a:buChar char="◦"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                          Sindhura-2620030140</a:t>
            </a:r>
            <a:endParaRPr lang="en-US" sz="17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CCAD1CA-B735-C329-696E-4F208170C153}"/>
                  </a:ext>
                </a:extLst>
              </p14:cNvPr>
              <p14:cNvContentPartPr/>
              <p14:nvPr/>
            </p14:nvContentPartPr>
            <p14:xfrm>
              <a:off x="-18808" y="6736217"/>
              <a:ext cx="12242880" cy="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CCAD1CA-B735-C329-696E-4F208170C15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08808" y="6376217"/>
                <a:ext cx="12422520" cy="720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57200"/>
            <a:ext cx="6654634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0" spc="-85" dirty="0">
                <a:solidFill>
                  <a:srgbClr val="2F344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ABSTRACT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58786" y="1254522"/>
            <a:ext cx="2195854" cy="31651"/>
          </a:xfrm>
          <a:prstGeom prst="roundRect">
            <a:avLst>
              <a:gd name="adj" fmla="val 49998"/>
            </a:avLst>
          </a:prstGeom>
          <a:solidFill>
            <a:srgbClr val="D9DEE7"/>
          </a:solidFill>
          <a:ln/>
        </p:spPr>
      </p:sp>
      <p:sp>
        <p:nvSpPr>
          <p:cNvPr id="4" name="Text 2"/>
          <p:cNvSpPr/>
          <p:nvPr/>
        </p:nvSpPr>
        <p:spPr>
          <a:xfrm>
            <a:off x="558786" y="1603871"/>
            <a:ext cx="6654634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Java-based console application that helps users manage monthly expenses.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58786" y="2492871"/>
            <a:ext cx="246056" cy="30222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6" name="Text 4"/>
          <p:cNvSpPr/>
          <p:nvPr/>
        </p:nvSpPr>
        <p:spPr>
          <a:xfrm>
            <a:off x="558786" y="2536031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20737" y="2492871"/>
            <a:ext cx="619268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User enters a monthly budget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58786" y="2947491"/>
            <a:ext cx="246056" cy="30222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9" name="Text 7"/>
          <p:cNvSpPr/>
          <p:nvPr/>
        </p:nvSpPr>
        <p:spPr>
          <a:xfrm>
            <a:off x="558786" y="2990652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20737" y="2947491"/>
            <a:ext cx="619268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Add expenses under Rent, Groceries, Education, Medical, Transport and Entertainment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58786" y="3704332"/>
            <a:ext cx="246056" cy="30222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12" name="Text 10"/>
          <p:cNvSpPr/>
          <p:nvPr/>
        </p:nvSpPr>
        <p:spPr>
          <a:xfrm>
            <a:off x="558786" y="3747492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0737" y="3704332"/>
            <a:ext cx="619268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Calculate total expenses and compare them with the budget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58786" y="4158952"/>
            <a:ext cx="246056" cy="30222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15" name="Text 13"/>
          <p:cNvSpPr/>
          <p:nvPr/>
        </p:nvSpPr>
        <p:spPr>
          <a:xfrm>
            <a:off x="558786" y="4202113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20737" y="4158952"/>
            <a:ext cx="619268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Show remaining amount or overspending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58786" y="4613573"/>
            <a:ext cx="246056" cy="30222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18" name="Text 16"/>
          <p:cNvSpPr/>
          <p:nvPr/>
        </p:nvSpPr>
        <p:spPr>
          <a:xfrm>
            <a:off x="558786" y="4656733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05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20737" y="4613573"/>
            <a:ext cx="619268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Generate a summary report</a:t>
            </a:r>
            <a:endParaRPr lang="en-US" sz="17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57200"/>
            <a:ext cx="11074123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0" spc="-85" dirty="0">
                <a:solidFill>
                  <a:srgbClr val="2F344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INTRODUCTION / OBJECTIVE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58786" y="1254522"/>
            <a:ext cx="3654334" cy="31651"/>
          </a:xfrm>
          <a:prstGeom prst="roundRect">
            <a:avLst>
              <a:gd name="adj" fmla="val 49998"/>
            </a:avLst>
          </a:prstGeom>
          <a:solidFill>
            <a:srgbClr val="D9DEE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1565771"/>
            <a:ext cx="4883425" cy="483502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879" y="1832471"/>
            <a:ext cx="431789" cy="431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0879" y="2388096"/>
            <a:ext cx="4299239" cy="296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200" kern="0" spc="-55" dirty="0">
                <a:solidFill>
                  <a:srgbClr val="2F344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Problem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850879" y="2896890"/>
            <a:ext cx="4299239" cy="192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Managing multiple expenses manually can be time-consuming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Calculating total expenses separately can be inconvenient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It may be difficult to know whether the monthly budget has been exceeded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5746904" y="3832126"/>
            <a:ext cx="69778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→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9385" y="1565771"/>
            <a:ext cx="4883524" cy="4835029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1478" y="1832471"/>
            <a:ext cx="431789" cy="4318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041478" y="2388096"/>
            <a:ext cx="4299339" cy="296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200" kern="0" spc="-55" dirty="0">
                <a:solidFill>
                  <a:srgbClr val="2F344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Project objective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041478" y="2896890"/>
            <a:ext cx="4299339" cy="2029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Create a simple Java application for managing monthly expenses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Store expenses category-wise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Automatically calculate total expenses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Check budget status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Provide a summary report</a:t>
            </a:r>
            <a:endParaRPr lang="en-US" sz="17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CAC757D-BF96-3301-F9A9-FF7907E8C794}"/>
                  </a:ext>
                </a:extLst>
              </p14:cNvPr>
              <p14:cNvContentPartPr/>
              <p14:nvPr/>
            </p14:nvContentPartPr>
            <p14:xfrm>
              <a:off x="36992" y="6764334"/>
              <a:ext cx="12177360" cy="7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CAC757D-BF96-3301-F9A9-FF7907E8C79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53008" y="6404334"/>
                <a:ext cx="12357000" cy="720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57200"/>
            <a:ext cx="11074123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0" spc="-85" dirty="0">
                <a:solidFill>
                  <a:srgbClr val="2F344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EXISTING SYSTEM VS PROPOSED SYSTEM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58786" y="1254522"/>
            <a:ext cx="3654334" cy="31651"/>
          </a:xfrm>
          <a:prstGeom prst="roundRect">
            <a:avLst>
              <a:gd name="adj" fmla="val 49998"/>
            </a:avLst>
          </a:prstGeom>
          <a:solidFill>
            <a:srgbClr val="D9DEE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1565771"/>
            <a:ext cx="5308467" cy="380950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7125" y="1883271"/>
            <a:ext cx="431789" cy="431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01677" y="2438896"/>
            <a:ext cx="4622684" cy="292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00" kern="0" spc="-84" dirty="0">
                <a:solidFill>
                  <a:srgbClr val="D84C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BEFORE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901677" y="2855317"/>
            <a:ext cx="4622684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400" kern="0" spc="-60" dirty="0">
                <a:solidFill>
                  <a:srgbClr val="2F344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Existing System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901677" y="3330773"/>
            <a:ext cx="4622684" cy="1370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Manual recording of expenses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Separate calculations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Difficult to track category-wise spending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 automatic budget status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442" y="1565771"/>
            <a:ext cx="5308467" cy="3809504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2781" y="1883271"/>
            <a:ext cx="431789" cy="4318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67333" y="2438896"/>
            <a:ext cx="4622684" cy="292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00" kern="0" spc="-84" dirty="0">
                <a:solidFill>
                  <a:srgbClr val="D84C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AFTER</a:t>
            </a:r>
            <a:endParaRPr lang="en-US" sz="2400" dirty="0"/>
          </a:p>
        </p:txBody>
      </p:sp>
      <p:sp>
        <p:nvSpPr>
          <p:cNvPr id="12" name="Text 6"/>
          <p:cNvSpPr/>
          <p:nvPr/>
        </p:nvSpPr>
        <p:spPr>
          <a:xfrm>
            <a:off x="6667333" y="2855317"/>
            <a:ext cx="4622684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400" kern="0" spc="-60" dirty="0">
                <a:solidFill>
                  <a:srgbClr val="2F344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Proposed System</a:t>
            </a:r>
            <a:endParaRPr lang="en-US" sz="2400" dirty="0"/>
          </a:p>
        </p:txBody>
      </p:sp>
      <p:sp>
        <p:nvSpPr>
          <p:cNvPr id="13" name="Text 7"/>
          <p:cNvSpPr/>
          <p:nvPr/>
        </p:nvSpPr>
        <p:spPr>
          <a:xfrm>
            <a:off x="6667333" y="3330773"/>
            <a:ext cx="4622684" cy="1727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Menu-driven Java application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Category-wise expense tracking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Automatic total calculation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Automatic budget comparison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Summary report</a:t>
            </a:r>
            <a:endParaRPr lang="en-US" sz="17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1E06C1D-E26E-72A9-7E4C-F3E6D3340E3C}"/>
                  </a:ext>
                </a:extLst>
              </p14:cNvPr>
              <p14:cNvContentPartPr/>
              <p14:nvPr/>
            </p14:nvContentPartPr>
            <p14:xfrm>
              <a:off x="27632" y="6755150"/>
              <a:ext cx="13035240" cy="846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1E06C1D-E26E-72A9-7E4C-F3E6D3340E3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62010" y="6575913"/>
                <a:ext cx="13214885" cy="4427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7EEA2B0-1040-914D-553E-FFC2E6199069}"/>
                  </a:ext>
                </a:extLst>
              </p14:cNvPr>
              <p14:cNvContentPartPr/>
              <p14:nvPr/>
            </p14:nvContentPartPr>
            <p14:xfrm>
              <a:off x="12633392" y="6083214"/>
              <a:ext cx="360" cy="3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7EEA2B0-1040-914D-553E-FFC2E619906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543752" y="5903574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57200"/>
            <a:ext cx="11074123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0" spc="-85" dirty="0">
                <a:solidFill>
                  <a:srgbClr val="2F344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 ATTAINMENTS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58786" y="1254522"/>
            <a:ext cx="3654334" cy="31651"/>
          </a:xfrm>
          <a:prstGeom prst="roundRect">
            <a:avLst>
              <a:gd name="adj" fmla="val 49998"/>
            </a:avLst>
          </a:prstGeom>
          <a:solidFill>
            <a:srgbClr val="D9DEE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1565771"/>
            <a:ext cx="3488146" cy="384442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6915" y="1832471"/>
            <a:ext cx="431789" cy="431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00080" y="2388096"/>
            <a:ext cx="324685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96" dirty="0">
                <a:solidFill>
                  <a:srgbClr val="9182B0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CO1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00080" y="2697956"/>
            <a:ext cx="3005558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800" kern="0" spc="-45" dirty="0">
                <a:solidFill>
                  <a:srgbClr val="2F344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Module 1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800080" y="3205361"/>
            <a:ext cx="3005459" cy="31651"/>
          </a:xfrm>
          <a:prstGeom prst="roundRect">
            <a:avLst>
              <a:gd name="adj" fmla="val 49998"/>
            </a:avLst>
          </a:prstGeom>
          <a:solidFill>
            <a:srgbClr val="C8B9DE"/>
          </a:solidFill>
          <a:ln/>
        </p:spPr>
      </p:sp>
      <p:sp>
        <p:nvSpPr>
          <p:cNvPr id="9" name="Text 5"/>
          <p:cNvSpPr/>
          <p:nvPr/>
        </p:nvSpPr>
        <p:spPr>
          <a:xfrm>
            <a:off x="800080" y="3416498"/>
            <a:ext cx="3005558" cy="1370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Variables &amp; data types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Operators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Java program structure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Scanner / Console I/O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1725" y="1565771"/>
            <a:ext cx="3488146" cy="3844429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9854" y="1832471"/>
            <a:ext cx="431789" cy="4318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93019" y="2388096"/>
            <a:ext cx="324685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96" dirty="0">
                <a:solidFill>
                  <a:srgbClr val="9182B0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CO2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4593019" y="2697956"/>
            <a:ext cx="3005558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800" kern="0" spc="-45" dirty="0">
                <a:solidFill>
                  <a:srgbClr val="2F344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Module 2</a:t>
            </a:r>
            <a:endParaRPr lang="en-US" sz="1800" dirty="0"/>
          </a:p>
        </p:txBody>
      </p:sp>
      <p:sp>
        <p:nvSpPr>
          <p:cNvPr id="14" name="Shape 8"/>
          <p:cNvSpPr/>
          <p:nvPr/>
        </p:nvSpPr>
        <p:spPr>
          <a:xfrm>
            <a:off x="4593019" y="3205361"/>
            <a:ext cx="3005459" cy="31651"/>
          </a:xfrm>
          <a:prstGeom prst="roundRect">
            <a:avLst>
              <a:gd name="adj" fmla="val 49998"/>
            </a:avLst>
          </a:prstGeom>
          <a:solidFill>
            <a:srgbClr val="B9D7EA"/>
          </a:solidFill>
          <a:ln/>
        </p:spPr>
      </p:sp>
      <p:sp>
        <p:nvSpPr>
          <p:cNvPr id="15" name="Text 9"/>
          <p:cNvSpPr/>
          <p:nvPr/>
        </p:nvSpPr>
        <p:spPr>
          <a:xfrm>
            <a:off x="4593019" y="3416498"/>
            <a:ext cx="3005558" cy="1727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if-else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switch-case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for loop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do-while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break &amp; default</a:t>
            </a:r>
            <a:endParaRPr lang="en-US" sz="17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4663" y="1565771"/>
            <a:ext cx="3488246" cy="3844429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72892" y="1832471"/>
            <a:ext cx="431789" cy="4318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385957" y="2388096"/>
            <a:ext cx="324695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96" dirty="0">
                <a:solidFill>
                  <a:srgbClr val="9182B0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CO3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8385957" y="2697956"/>
            <a:ext cx="3005658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800" kern="0" spc="-45" dirty="0">
                <a:solidFill>
                  <a:srgbClr val="2F344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Module 3</a:t>
            </a:r>
            <a:endParaRPr lang="en-US" sz="1800" dirty="0"/>
          </a:p>
        </p:txBody>
      </p:sp>
      <p:sp>
        <p:nvSpPr>
          <p:cNvPr id="20" name="Shape 12"/>
          <p:cNvSpPr/>
          <p:nvPr/>
        </p:nvSpPr>
        <p:spPr>
          <a:xfrm>
            <a:off x="8385957" y="3205361"/>
            <a:ext cx="3005558" cy="31651"/>
          </a:xfrm>
          <a:prstGeom prst="roundRect">
            <a:avLst>
              <a:gd name="adj" fmla="val 49998"/>
            </a:avLst>
          </a:prstGeom>
          <a:solidFill>
            <a:srgbClr val="B8D8D0"/>
          </a:solidFill>
          <a:ln/>
        </p:spPr>
      </p:sp>
      <p:sp>
        <p:nvSpPr>
          <p:cNvPr id="21" name="Text 13"/>
          <p:cNvSpPr/>
          <p:nvPr/>
        </p:nvSpPr>
        <p:spPr>
          <a:xfrm>
            <a:off x="8385957" y="3416498"/>
            <a:ext cx="3005658" cy="1014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1D arrays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Array traversal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Summation</a:t>
            </a:r>
            <a:endParaRPr lang="en-US" sz="17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608EB5B-5D5B-E9FA-B3E6-2A22449B7A28}"/>
                  </a:ext>
                </a:extLst>
              </p14:cNvPr>
              <p14:cNvContentPartPr/>
              <p14:nvPr/>
            </p14:nvContentPartPr>
            <p14:xfrm>
              <a:off x="-9808" y="6717710"/>
              <a:ext cx="12494160" cy="5652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608EB5B-5D5B-E9FA-B3E6-2A22449B7A2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99448" y="6537710"/>
                <a:ext cx="12673800" cy="416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06400"/>
            <a:ext cx="11074123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0" spc="-85" dirty="0">
                <a:solidFill>
                  <a:srgbClr val="2F344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RESULT / SAMPLE OUTPUT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58786" y="1203722"/>
            <a:ext cx="3654334" cy="31651"/>
          </a:xfrm>
          <a:prstGeom prst="roundRect">
            <a:avLst>
              <a:gd name="adj" fmla="val 49998"/>
            </a:avLst>
          </a:prstGeom>
          <a:solidFill>
            <a:srgbClr val="D9DEE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1489571"/>
            <a:ext cx="5025701" cy="417780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479" y="1705471"/>
            <a:ext cx="431789" cy="431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5479" y="2261096"/>
            <a:ext cx="4492314" cy="2795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Enter Monthly Budget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Main Menu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Add Expense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View Expenses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Calculate Total Expenses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 startAt="6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Check Budget Status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 startAt="7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Summary Report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 startAt="8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Exit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9180" y="1489571"/>
            <a:ext cx="5743729" cy="4177804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5100" y="1705471"/>
            <a:ext cx="431789" cy="4318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155873" y="2261096"/>
            <a:ext cx="5210342" cy="2385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If total expenses &gt; budget → OVER BUDGET + overspending amount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Otherwise → WITHIN BUDGET + remaining amount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Monthly Budget: ₹60,000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Total Expenses: ₹48,500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Remaining: ₹11,500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4D5663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Status: WITHIN BUDGET</a:t>
            </a:r>
            <a:endParaRPr lang="en-US" sz="1700" dirty="0"/>
          </a:p>
        </p:txBody>
      </p:sp>
      <p:sp>
        <p:nvSpPr>
          <p:cNvPr id="10" name="Shape 4"/>
          <p:cNvSpPr/>
          <p:nvPr/>
        </p:nvSpPr>
        <p:spPr>
          <a:xfrm>
            <a:off x="6155873" y="4825901"/>
            <a:ext cx="5210243" cy="31651"/>
          </a:xfrm>
          <a:prstGeom prst="roundRect">
            <a:avLst>
              <a:gd name="adj" fmla="val 49998"/>
            </a:avLst>
          </a:prstGeom>
          <a:solidFill>
            <a:srgbClr val="D9DEE7"/>
          </a:solidFill>
          <a:ln/>
        </p:spPr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C23C3E6-FCAA-4075-4B5F-9808B3EBD765}"/>
                  </a:ext>
                </a:extLst>
              </p14:cNvPr>
              <p14:cNvContentPartPr/>
              <p14:nvPr/>
            </p14:nvContentPartPr>
            <p14:xfrm>
              <a:off x="18632" y="6726894"/>
              <a:ext cx="12261600" cy="7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C23C3E6-FCAA-4075-4B5F-9808B3EBD76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71368" y="6366894"/>
                <a:ext cx="12441240" cy="720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387</Words>
  <Application>Microsoft Office PowerPoint</Application>
  <PresentationFormat>Widescreen</PresentationFormat>
  <Paragraphs>88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Montserrat SemiBold</vt:lpstr>
      <vt:lpstr>Heebo Light</vt:lpstr>
      <vt:lpstr>Heebo SemiBold</vt:lpstr>
      <vt:lpstr>Heebo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Nivedhitha</dc:creator>
  <cp:lastModifiedBy>Nivedhitha Naidu</cp:lastModifiedBy>
  <cp:revision>4</cp:revision>
  <dcterms:created xsi:type="dcterms:W3CDTF">2026-09-29T05:05:50Z</dcterms:created>
  <dcterms:modified xsi:type="dcterms:W3CDTF">2026-09-29T05:20:28Z</dcterms:modified>
</cp:coreProperties>
</file>